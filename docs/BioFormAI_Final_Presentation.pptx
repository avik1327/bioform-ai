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7A6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A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BIOFORM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18120" y="6446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99"/>
                </a:solidFill>
              </a:rPr>
              <a:t>Hindustan Institute of Technology and Science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0A2C37"/>
          </a:solidFill>
          <a:ln w="12700">
            <a:solidFill>
              <a:srgbClr val="0A2C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914400"/>
            <a:ext cx="1005840" cy="1005840"/>
          </a:xfrm>
          <a:prstGeom prst="ellipse">
            <a:avLst/>
          </a:prstGeom>
          <a:solidFill>
            <a:srgbClr val="0D7A6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234440"/>
            <a:ext cx="365760" cy="365760"/>
          </a:xfrm>
          <a:prstGeom prst="ellipse">
            <a:avLst/>
          </a:prstGeom>
          <a:solidFill>
            <a:srgbClr val="82E1CA"/>
          </a:solidFill>
          <a:ln w="12700">
            <a:solidFill>
              <a:srgbClr val="82E1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240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20" kern="0" dirty="0">
                <a:solidFill>
                  <a:srgbClr val="FFFFFF"/>
                </a:solidFill>
              </a:rPr>
              <a:t>BIOFORM AI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FC5"/>
                </a:solidFill>
              </a:rPr>
              <a:t>Final Year Project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3400" y="132588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Physics-Informed Neural Networks (PINNs) for Real-Time Biomechanical Fatigue &amp; Form Tracking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370832" y="320040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1"/>
                </a:solidFill>
              </a:rPr>
              <a:t>Avikshit Prasath M · Antony Vasanth P · Jayessh V · Surendhar 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70832" y="370332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1A9B9"/>
                </a:solidFill>
              </a:rPr>
              <a:t>Department of Computer Science and Engineering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1A9B9"/>
                </a:solidFill>
              </a:rPr>
              <a:t>Hindustan Institute of Technology and Science, Chennai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70832" y="49834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2E1CA"/>
                </a:solidFill>
              </a:rPr>
              <a:t>Web-based computer vision + biomechanics + physics-informed fatigue estimation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B46"/>
                </a:solidFill>
              </a:rPr>
              <a:t>Problem &amp; Motivation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26187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487"/>
                </a:solidFill>
              </a:rPr>
              <a:t>Why BioForm AI?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EAF1F8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02082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46"/>
                </a:solidFill>
              </a:rPr>
              <a:t>Current challenge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377440"/>
            <a:ext cx="296265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83044"/>
                </a:solidFill>
              </a:rPr>
              <a:t>Exercise fatigue and form are often assessed using coaches, wearables or laboratory equipment. Camera-only monitoring is more accessible, but raw pose landmarks alone do not directly provide fatigue, form quality or interpretable biomechanical feedback.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34840" y="187452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E6F5F2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202082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46"/>
                </a:solidFill>
              </a:rPr>
              <a:t>Project need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99432" y="2377440"/>
            <a:ext cx="296265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83044"/>
                </a:solidFill>
              </a:rPr>
              <a:t>A low-cost system that converts ordinary RGB video into joint angles, ROM, movement velocity, symmetry, repetitions and form feedback — while also estimating fatigue over time.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38160" y="187452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202082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46"/>
                </a:solidFill>
              </a:rPr>
              <a:t>Our approach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02752" y="2377440"/>
            <a:ext cx="296265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83044"/>
                </a:solidFill>
              </a:rPr>
              <a:t>Integrate MediaPipe pose estimation, exercise-specific biomechanical logic and a Physics-Informed Neural Network in a local web application with session summaries and video-specific graphs.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B46"/>
                </a:solidFill>
              </a:rPr>
              <a:t>Objectives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14400" y="1691640"/>
            <a:ext cx="1024128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83044"/>
                </a:solidFill>
              </a:rPr>
              <a:t>Detect body pose from uploaded or browser-recorded exercise video.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83044"/>
                </a:solidFill>
              </a:rPr>
              <a:t>Extract joint angles, ROM, angular velocity and left-right symmetry.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83044"/>
                </a:solidFill>
              </a:rPr>
              <a:t>Count repetitions / static holds and assess exercise form.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83044"/>
                </a:solidFill>
              </a:rPr>
              <a:t>Estimate fatigue using a PINN with a physics-informed loss.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83044"/>
                </a:solidFill>
              </a:rPr>
              <a:t>Generate session-specific graphs, summaries and annotated video.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83044"/>
                </a:solidFill>
              </a:rPr>
              <a:t>Evaluate the regression model with MAE, MSE, RMSE and R².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83044"/>
                </a:solidFill>
              </a:rPr>
              <a:t>Provide Gym and Rehabilitation-support workflows through a website.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B46"/>
                </a:solidFill>
              </a:rPr>
              <a:t>System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26187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487"/>
                </a:solidFill>
              </a:rPr>
              <a:t>End-to-end web workflow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1627632" cy="1188720"/>
          </a:xfrm>
          <a:prstGeom prst="roundRect">
            <a:avLst>
              <a:gd name="adj" fmla="val 3846"/>
            </a:avLst>
          </a:prstGeom>
          <a:solidFill>
            <a:srgbClr val="EAF1F8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44144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46"/>
                </a:solidFill>
              </a:rPr>
              <a:t>Video / Browser Camera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67128" y="2743200"/>
            <a:ext cx="256032" cy="0"/>
          </a:xfrm>
          <a:prstGeom prst="line">
            <a:avLst/>
          </a:prstGeom>
          <a:noFill/>
          <a:ln w="25400">
            <a:solidFill>
              <a:srgbClr val="0D7A6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23160" y="2148840"/>
            <a:ext cx="1627632" cy="1188720"/>
          </a:xfrm>
          <a:prstGeom prst="roundRect">
            <a:avLst>
              <a:gd name="adj" fmla="val 3846"/>
            </a:avLst>
          </a:prstGeom>
          <a:solidFill>
            <a:srgbClr val="E6F5F2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244144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46"/>
                </a:solidFill>
              </a:rPr>
              <a:t>MediaPipe Pose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87368" y="2743200"/>
            <a:ext cx="256032" cy="0"/>
          </a:xfrm>
          <a:prstGeom prst="line">
            <a:avLst/>
          </a:prstGeom>
          <a:noFill/>
          <a:ln w="25400">
            <a:solidFill>
              <a:srgbClr val="0D7A6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43400" y="2148840"/>
            <a:ext cx="1627632" cy="1188720"/>
          </a:xfrm>
          <a:prstGeom prst="roundRect">
            <a:avLst>
              <a:gd name="adj" fmla="val 3846"/>
            </a:avLst>
          </a:prstGeom>
          <a:solidFill>
            <a:srgbClr val="EAF1F8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44144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46"/>
                </a:solidFill>
              </a:rPr>
              <a:t>Biomechanical Features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07608" y="2743200"/>
            <a:ext cx="256032" cy="0"/>
          </a:xfrm>
          <a:prstGeom prst="line">
            <a:avLst/>
          </a:prstGeom>
          <a:noFill/>
          <a:ln w="25400">
            <a:solidFill>
              <a:srgbClr val="0D7A6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63640" y="2148840"/>
            <a:ext cx="1627632" cy="1188720"/>
          </a:xfrm>
          <a:prstGeom prst="roundRect">
            <a:avLst>
              <a:gd name="adj" fmla="val 3846"/>
            </a:avLst>
          </a:prstGeom>
          <a:solidFill>
            <a:srgbClr val="E6F5F2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44144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46"/>
                </a:solidFill>
              </a:rPr>
              <a:t>Exercise &amp; Form Logic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27848" y="2743200"/>
            <a:ext cx="256032" cy="0"/>
          </a:xfrm>
          <a:prstGeom prst="line">
            <a:avLst/>
          </a:prstGeom>
          <a:noFill/>
          <a:ln w="25400">
            <a:solidFill>
              <a:srgbClr val="0D7A6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83880" y="2148840"/>
            <a:ext cx="1627632" cy="1188720"/>
          </a:xfrm>
          <a:prstGeom prst="roundRect">
            <a:avLst>
              <a:gd name="adj" fmla="val 3846"/>
            </a:avLst>
          </a:prstGeom>
          <a:solidFill>
            <a:srgbClr val="EAF1F8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44144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46"/>
                </a:solidFill>
              </a:rPr>
              <a:t>PINN Fatigue Model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848088" y="2743200"/>
            <a:ext cx="256032" cy="0"/>
          </a:xfrm>
          <a:prstGeom prst="line">
            <a:avLst/>
          </a:prstGeom>
          <a:noFill/>
          <a:ln w="25400">
            <a:solidFill>
              <a:srgbClr val="0D7A6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104120" y="2148840"/>
            <a:ext cx="1627632" cy="1188720"/>
          </a:xfrm>
          <a:prstGeom prst="roundRect">
            <a:avLst>
              <a:gd name="adj" fmla="val 3846"/>
            </a:avLst>
          </a:prstGeom>
          <a:solidFill>
            <a:srgbClr val="E6F5F2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95560" y="244144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46"/>
                </a:solidFill>
              </a:rPr>
              <a:t>Results 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A6F"/>
                </a:solidFill>
              </a:rPr>
              <a:t>Outputs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370832"/>
            <a:ext cx="47548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83044"/>
                </a:solidFill>
              </a:rPr>
              <a:t>Annotated video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83044"/>
                </a:solidFill>
              </a:rPr>
              <a:t>Repetition count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83044"/>
                </a:solidFill>
              </a:rPr>
              <a:t>ROM / velocity / symmetry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83044"/>
                </a:solidFill>
              </a:rPr>
              <a:t>Form score + feedback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83044"/>
                </a:solidFill>
              </a:rPr>
              <a:t>Fatigue estimate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83044"/>
                </a:solidFill>
              </a:rPr>
              <a:t>Session CSV + graphs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A6F"/>
                </a:solidFill>
              </a:rPr>
              <a:t>Data flow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4370832"/>
            <a:ext cx="4206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83044"/>
                </a:solidFill>
              </a:rPr>
              <a:t>Unique session ID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83044"/>
                </a:solidFill>
              </a:rPr>
              <a:t>Master training dataset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83044"/>
                </a:solidFill>
              </a:rPr>
              <a:t>Versioned PINN checkpoints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83044"/>
                </a:solidFill>
              </a:rPr>
              <a:t>Evaluation CSV and graphs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B46"/>
                </a:solidFill>
              </a:rPr>
              <a:t>Biomechanical Analysis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21488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1984248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D7A6F"/>
                </a:solidFill>
              </a:rPr>
              <a:t>10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2423160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B46"/>
                </a:solidFill>
              </a:rPr>
              <a:t>Joint angles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487"/>
                </a:solidFill>
              </a:rPr>
              <a:t>bilateral knee/hip/elbow/shoulder/ankle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154680" y="1828800"/>
            <a:ext cx="21488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9272" y="1984248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D7A6F"/>
                </a:solidFill>
              </a:rPr>
              <a:t>33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3264408" y="2423160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B46"/>
                </a:solidFill>
              </a:rPr>
              <a:t>Configured movements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46120" y="2651760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487"/>
                </a:solidFill>
              </a:rPr>
              <a:t>gym + rehab-support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532120" y="1828800"/>
            <a:ext cx="21488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96712" y="1984248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D7A6F"/>
                </a:solidFill>
              </a:rPr>
              <a:t>5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641848" y="2423160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B46"/>
                </a:solidFill>
              </a:rPr>
              <a:t>Per-session graphs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23560" y="2651760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487"/>
                </a:solidFill>
              </a:rPr>
              <a:t>fatigue, form, ROM, symmetry, velocity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909560" y="1828800"/>
            <a:ext cx="21488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74152" y="1984248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D7A6F"/>
                </a:solidFill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019288" y="2423160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B46"/>
                </a:solidFill>
              </a:rPr>
              <a:t>Main modes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01000" y="2651760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487"/>
                </a:solidFill>
              </a:rPr>
              <a:t>Gym / Rehabilitation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005840" y="3520440"/>
            <a:ext cx="9784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385876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B46"/>
                </a:solidFill>
              </a:rPr>
              <a:t>θ = cos⁻¹[(BA · BC) / (||BA|| ||BC||)]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08760" y="4389120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487"/>
                </a:solidFill>
              </a:rPr>
              <a:t>Three-point landmark geometry is used to derive interpretable joint angles. ROM, velocity and symmetry are computed from the resulting time series.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B46"/>
                </a:solidFill>
              </a:rPr>
              <a:t>Exercise &amp; Form Tracking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26187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487"/>
                </a:solidFill>
              </a:rPr>
              <a:t>Interpretable threshold/state logic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EAF1F8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92938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46"/>
                </a:solidFill>
              </a:rPr>
              <a:t>Repetition state machine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86000"/>
            <a:ext cx="3054096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83044"/>
                </a:solidFill>
              </a:rPr>
              <a:t>Each exercise has a primary joint, low/high thresholds, phase labels and a rep trigger. A repetition is counted only after the expected phase transition. Static exercises accumulate hold duration.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07408" y="178308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E6F5F2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92938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46"/>
                </a:solidFill>
              </a:rPr>
              <a:t>Exercise-specific rules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286000"/>
            <a:ext cx="3054096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83044"/>
                </a:solidFill>
              </a:rPr>
              <a:t>Examples: squat/lunge depth, curl upper-arm stability, raise elbow position, push-up/plank trunk alignment, and conservative symmetry/control rules for rehabilitation-support movements.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83296" y="178308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7888" y="192938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46"/>
                </a:solidFill>
              </a:rPr>
              <a:t>Calibration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47888" y="2286000"/>
            <a:ext cx="3054096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83044"/>
                </a:solidFill>
              </a:rPr>
              <a:t>Thresholds are editable in exercise_config.json and through the website Calibration page. These values are prototype settings and should be tuned using representative recordings.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B46"/>
                </a:solidFill>
              </a:rPr>
              <a:t>Physics-Informed Neural Network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4846320" cy="1965960"/>
          </a:xfrm>
          <a:prstGeom prst="roundRect">
            <a:avLst/>
          </a:prstGeom>
          <a:solidFill>
            <a:srgbClr val="102237"/>
          </a:solidFill>
          <a:ln w="12700">
            <a:solidFill>
              <a:srgbClr val="1022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23042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dF/dt = αE(t) − βF(t)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29626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CD3DF"/>
                </a:solidFill>
              </a:rPr>
              <a:t>F(t): normalized fatigue · E(t): movement effort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1828800"/>
            <a:ext cx="4846320" cy="1965960"/>
          </a:xfrm>
          <a:prstGeom prst="roundRect">
            <a:avLst/>
          </a:prstGeom>
          <a:solidFill>
            <a:srgbClr val="E6F5F2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0" y="23042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3B46"/>
                </a:solidFill>
              </a:rPr>
              <a:t>Ltotal = Ldata + λ Lphysics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29400" y="29626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487"/>
                </a:solidFill>
              </a:rPr>
              <a:t>Prototype physics weight: λ = 0.20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4297680"/>
            <a:ext cx="99669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83044"/>
                </a:solidFill>
              </a:rPr>
              <a:t>Network: 64 → 64 → 32 hidden units with Tanh activations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83044"/>
                </a:solidFill>
              </a:rPr>
              <a:t>Sigmoid fatigue output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83044"/>
                </a:solidFill>
              </a:rPr>
              <a:t>α and β are positive trainable parameters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83044"/>
                </a:solidFill>
              </a:rPr>
              <a:t>Session-level train/test split when multiple sessions exist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B46"/>
                </a:solidFill>
              </a:rPr>
              <a:t>Final Web Application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26187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487"/>
                </a:solidFill>
              </a:rPr>
              <a:t>Flask interface connected to the same Python analysis backend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106527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10652760" cy="530352"/>
          </a:xfrm>
          <a:prstGeom prst="rect">
            <a:avLst/>
          </a:prstGeom>
          <a:solidFill>
            <a:srgbClr val="102237"/>
          </a:solidFill>
          <a:ln w="12700">
            <a:solidFill>
              <a:srgbClr val="102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4708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BioForm AI     Analyze     Train PINN     Sessions     Metrics     Calibration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25420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B46"/>
                </a:solidFill>
              </a:rPr>
              <a:t>Analyze an exercise session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3200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7487"/>
                </a:solidFill>
              </a:rPr>
              <a:t>Mode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51560" y="3493008"/>
            <a:ext cx="2743200" cy="438912"/>
          </a:xfrm>
          <a:prstGeom prst="roundRect">
            <a:avLst/>
          </a:prstGeom>
          <a:solidFill>
            <a:srgbClr val="F2F6F8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62102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3044"/>
                </a:solidFill>
              </a:rPr>
              <a:t>Gym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4160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7487"/>
                </a:solidFill>
              </a:rPr>
              <a:t>Exercise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51560" y="4453128"/>
            <a:ext cx="2743200" cy="438912"/>
          </a:xfrm>
          <a:prstGeom prst="roundRect">
            <a:avLst/>
          </a:prstGeom>
          <a:solidFill>
            <a:srgbClr val="F2F6F8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581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3044"/>
                </a:solidFill>
              </a:rPr>
              <a:t>Squat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" y="5212080"/>
            <a:ext cx="2743200" cy="530352"/>
          </a:xfrm>
          <a:prstGeom prst="roundRect">
            <a:avLst/>
          </a:prstGeom>
          <a:solidFill>
            <a:srgbClr val="0D7A6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53766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Analyze uploaded video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2514600"/>
            <a:ext cx="6035040" cy="3246120"/>
          </a:xfrm>
          <a:prstGeom prst="roundRect">
            <a:avLst/>
          </a:prstGeom>
          <a:solidFill>
            <a:srgbClr val="071826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Session Result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92040" y="3429000"/>
            <a:ext cx="1261872" cy="914400"/>
          </a:xfrm>
          <a:prstGeom prst="roundRect">
            <a:avLst/>
          </a:prstGeom>
          <a:solidFill>
            <a:srgbClr val="102C3A"/>
          </a:solidFill>
          <a:ln w="12700">
            <a:solidFill>
              <a:srgbClr val="204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6118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2E1CA"/>
                </a:solidFill>
              </a:rPr>
              <a:t>12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92040" y="40233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EA"/>
                </a:solidFill>
              </a:rPr>
              <a:t>Reps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91072" y="3429000"/>
            <a:ext cx="1261872" cy="914400"/>
          </a:xfrm>
          <a:prstGeom prst="roundRect">
            <a:avLst/>
          </a:prstGeom>
          <a:solidFill>
            <a:srgbClr val="102C3A"/>
          </a:solidFill>
          <a:ln w="12700">
            <a:solidFill>
              <a:srgbClr val="204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36118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2E1CA"/>
                </a:solidFill>
              </a:rPr>
              <a:t>78.4°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91072" y="40233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EA"/>
                </a:solidFill>
              </a:rPr>
              <a:t>Avg ROM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690104" y="3429000"/>
            <a:ext cx="1261872" cy="914400"/>
          </a:xfrm>
          <a:prstGeom prst="roundRect">
            <a:avLst/>
          </a:prstGeom>
          <a:solidFill>
            <a:srgbClr val="102C3A"/>
          </a:solidFill>
          <a:ln w="12700">
            <a:solidFill>
              <a:srgbClr val="204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0104" y="36118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2E1CA"/>
                </a:solidFill>
              </a:rPr>
              <a:t>91%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690104" y="40233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EA"/>
                </a:solidFill>
              </a:rPr>
              <a:t>Form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089136" y="3429000"/>
            <a:ext cx="1261872" cy="914400"/>
          </a:xfrm>
          <a:prstGeom prst="roundRect">
            <a:avLst/>
          </a:prstGeom>
          <a:solidFill>
            <a:srgbClr val="102C3A"/>
          </a:solidFill>
          <a:ln w="12700">
            <a:solidFill>
              <a:srgbClr val="204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89136" y="36118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2E1CA"/>
                </a:solidFill>
              </a:rPr>
              <a:t>43.2%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089136" y="40233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EA"/>
                </a:solidFill>
              </a:rPr>
              <a:t>Peak fatigue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92040" y="4846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E0"/>
                </a:solidFill>
              </a:rPr>
              <a:t>Video-specific fatigue · form · ROM · symmetry · velocity graphs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52852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1A9B9"/>
                </a:solidFill>
              </a:rPr>
              <a:t>Browser camera recording is supported as record → upload → analyze.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B46"/>
                </a:solidFill>
              </a:rPr>
              <a:t>Testing &amp; Validation Strategy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783080"/>
            <a:ext cx="3456432" cy="3611880"/>
          </a:xfrm>
          <a:prstGeom prst="roundRect">
            <a:avLst>
              <a:gd name="adj" fmla="val 2116"/>
            </a:avLst>
          </a:prstGeom>
          <a:solidFill>
            <a:srgbClr val="EAF1F8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" y="192938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46"/>
                </a:solidFill>
              </a:rPr>
              <a:t>1 · Code validation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50392" y="2286000"/>
            <a:ext cx="3127248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83044"/>
                </a:solidFill>
              </a:rPr>
              <a:t>Unit tests cover angle calculation, repetition transitions and form scoring. Flask health/home routes are included for web tests after dependencies are installed.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70832" y="1783080"/>
            <a:ext cx="3456432" cy="3611880"/>
          </a:xfrm>
          <a:prstGeom prst="roundRect">
            <a:avLst>
              <a:gd name="adj" fmla="val 2116"/>
            </a:avLst>
          </a:prstGeom>
          <a:solidFill>
            <a:srgbClr val="E6F5F2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5424" y="192938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46"/>
                </a:solidFill>
              </a:rPr>
              <a:t>2 · Exercise validation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35424" y="2286000"/>
            <a:ext cx="3127248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83044"/>
                </a:solidFill>
              </a:rPr>
              <a:t>Test key exercises across multiple videos/users. Manually verify repetition counts, inspect representative joint angles, and tune thresholds in the Calibration page.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55864" y="1783080"/>
            <a:ext cx="3456432" cy="36118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0456" y="192938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46"/>
                </a:solidFill>
              </a:rPr>
              <a:t>3 · Fatigue validation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0456" y="2286000"/>
            <a:ext cx="3127248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83044"/>
                </a:solidFill>
              </a:rPr>
              <a:t>Use held-out sessions and report MAE, MSE, RMSE and R². For research-grade validity, collect RPE, expert labels or physiological fatigue measurements.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B46"/>
                </a:solidFill>
              </a:rPr>
              <a:t>Model Evaluation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26187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487"/>
                </a:solidFill>
              </a:rPr>
              <a:t>Regression metrics — not classification accuracy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3774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984248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D7A6F"/>
                </a:solidFill>
              </a:rPr>
              <a:t>0.000902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32688" y="242316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B46"/>
                </a:solidFill>
              </a:rPr>
              <a:t>Previous-run MSE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487"/>
                </a:solidFill>
              </a:rPr>
              <a:t>proxy target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74720" y="1828800"/>
            <a:ext cx="23774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1984248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D7A6F"/>
                </a:solidFill>
              </a:rPr>
              <a:t>0.019473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584448" y="242316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B46"/>
                </a:solidFill>
              </a:rPr>
              <a:t>Previous-run MAE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66160" y="265176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487"/>
                </a:solidFill>
              </a:rPr>
              <a:t>≈ 1.95 percentage points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3774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1984248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D7A6F"/>
                </a:solidFill>
              </a:rPr>
              <a:t>0.0300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236208" y="242316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B46"/>
                </a:solidFill>
              </a:rPr>
              <a:t>Approx. RMSE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17920" y="265176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487"/>
                </a:solidFill>
              </a:rPr>
              <a:t>sqrt(previous MSE)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778240" y="1828800"/>
            <a:ext cx="23774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42832" y="1984248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D7A6F"/>
                </a:solidFill>
              </a:rPr>
              <a:t>Regenerate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887968" y="242316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B46"/>
                </a:solidFill>
              </a:rPr>
              <a:t>Final R²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69680" y="265176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487"/>
                </a:solidFill>
              </a:rPr>
              <a:t>after final web training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14400" y="3520440"/>
            <a:ext cx="10149840" cy="132588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E7C4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0"/>
                </a:solidFill>
              </a:rPr>
              <a:t>Important interpretation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160520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31F"/>
                </a:solidFill>
              </a:rPr>
              <a:t>The previous numbers describe error against the current biomechanical fatigue proxy. “98.05% accuracy” is not a formal regression metric. Final reporting should use MAE, MSE, RMSE and R² on held-out sessions.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B46"/>
                </a:solidFill>
              </a:rPr>
              <a:t>Limitations &amp; Remaining Scientific Work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14400" y="1691640"/>
            <a:ext cx="1005840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83044"/>
                </a:solidFill>
              </a:rPr>
              <a:t>Single RGB camera is sensitive to occlusion, view and landmark visibility.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83044"/>
                </a:solidFill>
              </a:rPr>
              <a:t>Exercise thresholds are prototype values until empirically calibrated.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83044"/>
                </a:solidFill>
              </a:rPr>
              <a:t>Current fatigue target is a biomechanical proxy, not physiological ground truth.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83044"/>
                </a:solidFill>
              </a:rPr>
              <a:t>No clinical validation is claimed; Rehabilitation mode is support only.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83044"/>
                </a:solidFill>
              </a:rPr>
              <a:t>Web camera mode records a clip and then analyzes it — not low-latency streaming.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83044"/>
                </a:solidFill>
              </a:rPr>
              <a:t>Final research validation still requires real multi-user sessions and stronger labels.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0120" y="5257800"/>
            <a:ext cx="9966960" cy="658368"/>
          </a:xfrm>
          <a:prstGeom prst="roundRect">
            <a:avLst/>
          </a:prstGeom>
          <a:solidFill>
            <a:srgbClr val="E6F5F2"/>
          </a:solidFill>
          <a:ln w="12700">
            <a:solidFill>
              <a:srgbClr val="B5DD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54498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B46"/>
                </a:solidFill>
              </a:rPr>
              <a:t>Coding is complete for the academic prototype; remaining work is empirical validation and supervisor-approved final testing.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B46"/>
                </a:solidFill>
              </a:rPr>
              <a:t>Conclusion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68680" y="17373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46"/>
                </a:solidFill>
              </a:rPr>
              <a:t>BioForm AI delivers an end-to-end web-based academic prototype that integrates: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97280" y="2377440"/>
            <a:ext cx="512064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83044"/>
                </a:solidFill>
              </a:rPr>
              <a:t>Computer vision pose estimation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83044"/>
                </a:solidFill>
              </a:rPr>
              <a:t>Biomechanical feature extraction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83044"/>
                </a:solidFill>
              </a:rPr>
              <a:t>Exercise-specific form tracking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83044"/>
                </a:solidFill>
              </a:rPr>
              <a:t>Physics-informed fatigue estimation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83044"/>
                </a:solidFill>
              </a:rPr>
              <a:t>Session-specific visualization and graphs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83044"/>
                </a:solidFill>
              </a:rPr>
              <a:t>Regression evaluation and model versioning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0" y="2331720"/>
            <a:ext cx="4480560" cy="2377440"/>
          </a:xfrm>
          <a:prstGeom prst="roundRect">
            <a:avLst/>
          </a:prstGeom>
          <a:solidFill>
            <a:srgbClr val="102237"/>
          </a:solidFill>
          <a:ln w="12700">
            <a:solidFill>
              <a:srgbClr val="102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0372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2E1CA"/>
                </a:solidFill>
              </a:rPr>
              <a:t>Final message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03720" y="315468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Core implementation complete.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Next priority: collect representative videos, calibrate thresholds, obtain stronger fatigue labels and report final held-out metrics.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06240" y="5715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7A6F"/>
                </a:solidFill>
              </a:rPr>
              <a:t>THANK YOU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Hindustan Institute of Technology and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Physics-Informed Neural Networks for Real-Time Biomechanical Fatigue &amp; Form Tracking</dc:title>
  <dc:subject>BioForm AI Final Project</dc:subject>
  <dc:creator>Avikshit Prasath M</dc:creator>
  <cp:lastModifiedBy>Avikshit Prasath M</cp:lastModifiedBy>
  <cp:revision>1</cp:revision>
  <dcterms:created xsi:type="dcterms:W3CDTF">2026-09-26T16:09:18Z</dcterms:created>
  <dcterms:modified xsi:type="dcterms:W3CDTF">2026-09-26T16:09:18Z</dcterms:modified>
</cp:coreProperties>
</file>